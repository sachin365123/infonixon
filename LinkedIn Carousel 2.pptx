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56" r:id="rId6"/>
    <p:sldId id="257" r:id="rId7"/>
    <p:sldId id="259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71C0D-81D0-F4B4-C627-664A78FD2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E9E08-907E-2F6A-E239-24C4A5D6E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7F1FB-44FF-A1A1-1B01-8AB39327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47D96-B6A3-6326-6246-62B1E57B3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69CB0-3423-6DE2-5147-B2E8D18C8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139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9AD6C-4399-CF51-D1F3-9D0FA03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8A57D-7193-C4AF-F936-5FD607C70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56AA7-C9AB-5A75-31EB-B01F0D4BF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7077A-CFD9-CCE3-95FD-B4E5B34A0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3543D-EDEB-C91A-78E8-5B6D8948C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86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B2610-06CF-F629-7A32-F13F58DE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E7F27-780F-08BD-A296-5B0A98CA4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E2602-E672-3E92-F7F6-42565AF4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546CE-FF0A-8F0E-55C9-4E7906198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DE147-039A-A81F-B7C4-F5019BA0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58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AA22-9167-1AD4-9E17-2F096933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47572-E89E-D1C5-CF67-DB197B1E1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895CC-1B16-D338-8E50-D62B23FBA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483A3-529A-3DAE-C884-B8AA22B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4F790-43A4-D001-29C5-170A9C5F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3926A-7457-40BF-5F9E-00A05463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24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7C2E-C242-0E59-D32E-77E51457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BCABA-D738-627D-698A-5E48C9634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C3252-0A40-D24F-353C-DFE7937FF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D48C9-CE00-3AD4-4A21-A372FEFCBB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B1459B-01A6-E824-2EF7-D9E573B68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DEA0F5-0508-DB40-D9FD-DDFCCEF8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5ADB99-CA7B-7011-4523-694CBB93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0EABB8-3645-B630-DA9C-C8613AC49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498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5DBAE-C987-3869-DD05-6F65D526A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597B3A-A0CD-2384-E486-D484C4E3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0CADB-3659-AC38-B4A5-6CDCA0F2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94DFD-9842-BDA0-E2BD-E083E2394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188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5A7751-42A2-574B-3917-50B889D0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8280F4-5DBD-0B10-3878-EE024ADB6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3DC7A-9897-C88F-D61A-A476C762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251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4025-67FD-DE1E-D0E7-E96D3650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52DB7-1D46-CBBD-CECE-916192F8F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C1B75-1E9B-249D-CBDA-549100B5D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F9886-6FC6-4434-040A-C27CC5E27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4577-3B03-FF04-316F-94536BACF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56EE0-E0B6-17EB-9C9E-2BE585A7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455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DB7EE-4776-964B-2E23-30C93242D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1CDF87-0594-5157-E10D-33774EA2A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B5B4-A97F-E491-A89E-1C0CE235E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79040-1054-C60F-EA9F-7D8A8B85C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2A105-5E88-6DE8-40C7-50F44557D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30819-5C2F-7AF5-6299-6FFA9221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101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D644-E01E-0E37-2E09-30CBFD0C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3073F-69AE-D75F-CE50-C02BC133B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D8AA1-C722-AA4B-60BF-1CEBA9E5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D6E9F-0639-BC04-3ECD-07429ECF9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247EB-1A3B-32AC-9A40-5B2E1F34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53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14DF77-F127-415C-BEA9-8F9F02B74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201DD-73AB-BF69-8F5A-9463EFB52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A4E33-BFF4-723D-859D-9FF0AC7B5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0610D-7F2F-F49E-EF22-9B413F5B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F79CF-0148-1F5A-8315-81413A99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6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86EAE1-ADEC-B886-E618-34B28A5F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98949-CB68-929D-772B-7A8156745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2EAF5-2E80-B3FC-7413-D77DBF58E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F24E7-8877-482D-A37C-BED11A38E2C2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2DC32-D156-5B3E-4687-A96A9B5A4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D79A4-D193-6E8E-A8AA-A7911A1C0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EAC8B-36DB-49C6-BB42-6C161E24FE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21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050C8-C55F-751B-F9E1-EB84414D7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629587"/>
            <a:ext cx="8814217" cy="479685"/>
          </a:xfrm>
        </p:spPr>
        <p:txBody>
          <a:bodyPr>
            <a:normAutofit fontScale="90000"/>
          </a:bodyPr>
          <a:lstStyle/>
          <a:p>
            <a:r>
              <a:rPr lang="en-IN" dirty="0"/>
              <a:t>Sample Design: </a:t>
            </a:r>
            <a:br>
              <a:rPr lang="en-IN" dirty="0"/>
            </a:br>
            <a:r>
              <a:rPr lang="en-IN" dirty="0"/>
              <a:t>No Company Logo,</a:t>
            </a:r>
            <a:br>
              <a:rPr lang="en-IN" dirty="0"/>
            </a:br>
            <a:r>
              <a:rPr lang="en-IN" dirty="0"/>
              <a:t>No Mentor’s Name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383BA8-A8EF-C412-D92F-8AA286700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9186332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60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DE38F-519E-0E8D-ED5E-C027C32F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F32E8-890E-7478-7E00-D0D88F514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629587"/>
            <a:ext cx="8814217" cy="479685"/>
          </a:xfrm>
        </p:spPr>
        <p:txBody>
          <a:bodyPr>
            <a:normAutofit fontScale="90000"/>
          </a:bodyPr>
          <a:lstStyle/>
          <a:p>
            <a:r>
              <a:rPr lang="en-IN" dirty="0"/>
              <a:t>Sample Design: </a:t>
            </a:r>
            <a:br>
              <a:rPr lang="en-IN" dirty="0"/>
            </a:br>
            <a:r>
              <a:rPr lang="en-IN" dirty="0"/>
              <a:t>No Company Logo,</a:t>
            </a:r>
            <a:br>
              <a:rPr lang="en-IN" dirty="0"/>
            </a:br>
            <a:r>
              <a:rPr lang="en-IN" dirty="0"/>
              <a:t>No Mentor’s Name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DAB73-7764-6B1F-B299-26C00A59D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 descr="How to Create a LinkedIn Carousel in PowerPoint">
            <a:extLst>
              <a:ext uri="{FF2B5EF4-FFF2-40B4-BE49-F238E27FC236}">
                <a16:creationId xmlns:a16="http://schemas.microsoft.com/office/drawing/2014/main" id="{37C5491F-7EE5-E195-E870-18AD37319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12" y="2270658"/>
            <a:ext cx="7036009" cy="395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10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BFCD7-95E7-10EF-7F3C-9182E238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8B793-A624-3582-0108-161F07091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629587"/>
            <a:ext cx="8814217" cy="479685"/>
          </a:xfrm>
        </p:spPr>
        <p:txBody>
          <a:bodyPr>
            <a:normAutofit fontScale="90000"/>
          </a:bodyPr>
          <a:lstStyle/>
          <a:p>
            <a:r>
              <a:rPr lang="en-IN" dirty="0"/>
              <a:t>Sample Design: </a:t>
            </a:r>
            <a:br>
              <a:rPr lang="en-IN" dirty="0"/>
            </a:br>
            <a:r>
              <a:rPr lang="en-IN" dirty="0"/>
              <a:t>No Company Logo,</a:t>
            </a:r>
            <a:br>
              <a:rPr lang="en-IN" dirty="0"/>
            </a:br>
            <a:r>
              <a:rPr lang="en-IN" dirty="0"/>
              <a:t>No Mentor’s Name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1E15A-723A-D6F2-B774-C69BB3117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 descr="Linkedin Carousel designs, themes, templates and downloadable graphic  elements on Dribbble">
            <a:extLst>
              <a:ext uri="{FF2B5EF4-FFF2-40B4-BE49-F238E27FC236}">
                <a16:creationId xmlns:a16="http://schemas.microsoft.com/office/drawing/2014/main" id="{FC86563A-C979-134F-FC34-D1FB1F7D3B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580" b="25079"/>
          <a:stretch>
            <a:fillRect/>
          </a:stretch>
        </p:blipFill>
        <p:spPr>
          <a:xfrm>
            <a:off x="533732" y="1947641"/>
            <a:ext cx="10708397" cy="412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03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26E23-9338-9186-5475-2D93B6024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9F5F6-55CB-B24F-3015-4DFA032AC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410" y="629587"/>
            <a:ext cx="8814217" cy="479685"/>
          </a:xfrm>
        </p:spPr>
        <p:txBody>
          <a:bodyPr>
            <a:normAutofit fontScale="90000"/>
          </a:bodyPr>
          <a:lstStyle/>
          <a:p>
            <a:r>
              <a:rPr lang="en-IN" dirty="0"/>
              <a:t>Sample Design: </a:t>
            </a:r>
            <a:br>
              <a:rPr lang="en-IN" dirty="0"/>
            </a:br>
            <a:r>
              <a:rPr lang="en-IN" dirty="0"/>
              <a:t>No Company Logo,</a:t>
            </a:r>
            <a:br>
              <a:rPr lang="en-IN" dirty="0"/>
            </a:br>
            <a:r>
              <a:rPr lang="en-IN" dirty="0"/>
              <a:t>No Mentor’s Name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1AC54-F34B-7DEF-C921-3F2D833B9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Linkedin Carousel Images – Browse 1,156 Stock Photos, Vectors, and Video |  Adobe Stock">
            <a:extLst>
              <a:ext uri="{FF2B5EF4-FFF2-40B4-BE49-F238E27FC236}">
                <a16:creationId xmlns:a16="http://schemas.microsoft.com/office/drawing/2014/main" id="{762DFF07-B1B1-E351-13D3-D9CF58EFC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74" y="2361700"/>
            <a:ext cx="11048229" cy="367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2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C0514-A18F-260B-A23D-2FD524D3B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816" y="2709472"/>
            <a:ext cx="9144000" cy="2387600"/>
          </a:xfrm>
        </p:spPr>
        <p:txBody>
          <a:bodyPr>
            <a:noAutofit/>
          </a:bodyPr>
          <a:lstStyle/>
          <a:p>
            <a:r>
              <a:rPr lang="en-US" sz="10000" dirty="0"/>
              <a:t>6</a:t>
            </a:r>
            <a:r>
              <a:rPr lang="en-US" dirty="0"/>
              <a:t> key </a:t>
            </a:r>
            <a:r>
              <a:rPr lang="en-US" b="1" dirty="0">
                <a:solidFill>
                  <a:srgbClr val="FF0000"/>
                </a:solidFill>
              </a:rPr>
              <a:t>Delta Lake </a:t>
            </a:r>
            <a:r>
              <a:rPr lang="en-US" dirty="0"/>
              <a:t>optimization techniques in 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Databricks</a:t>
            </a:r>
            <a:r>
              <a:rPr lang="en-IN" dirty="0"/>
              <a:t> </a:t>
            </a:r>
            <a:r>
              <a:rPr lang="en-US" dirty="0"/>
              <a:t>that can cut your query times from hours to minutes.</a:t>
            </a:r>
            <a:endParaRPr lang="en-IN" sz="8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E51F18-AA9D-E3AE-D85A-1C8AB243B0AF}"/>
              </a:ext>
            </a:extLst>
          </p:cNvPr>
          <p:cNvSpPr/>
          <p:nvPr/>
        </p:nvSpPr>
        <p:spPr>
          <a:xfrm>
            <a:off x="1394085" y="5501390"/>
            <a:ext cx="5096656" cy="7195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Scroll right ====</a:t>
            </a:r>
            <a:r>
              <a:rPr lang="en-IN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  <p:pic>
        <p:nvPicPr>
          <p:cNvPr id="7" name="Picture 6" descr="Circle Transparent Images – Browse 1,531,759 Stock Photos, Vectors, and  Video | Adobe Stock">
            <a:extLst>
              <a:ext uri="{FF2B5EF4-FFF2-40B4-BE49-F238E27FC236}">
                <a16:creationId xmlns:a16="http://schemas.microsoft.com/office/drawing/2014/main" id="{B07ED4AD-DBA7-2C34-BCC3-EEF45CB72E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89745" y="2305154"/>
            <a:ext cx="4631962" cy="148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9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2EC15-C793-90E6-F5C5-FE3ECFC68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EBCA7-A01A-6B20-B9D4-0523E4C21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9478" y="680239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3300" dirty="0"/>
              <a:t>𝗭-𝗢𝗿𝗱𝗲𝗿𝗶𝗻𝗴:  is a technique to </a:t>
            </a:r>
            <a:r>
              <a:rPr lang="en-US" sz="3300" dirty="0" err="1"/>
              <a:t>colocate</a:t>
            </a:r>
            <a:r>
              <a:rPr lang="en-US" sz="3300" dirty="0"/>
              <a:t> related information in the same set of files. </a:t>
            </a:r>
            <a:br>
              <a:rPr lang="en-US" sz="3300" dirty="0"/>
            </a:br>
            <a:endParaRPr lang="en-IN" sz="3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B798F-BEA0-1D60-6021-CD83019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989" y="3179282"/>
            <a:ext cx="8416978" cy="1080724"/>
          </a:xfrm>
        </p:spPr>
        <p:txBody>
          <a:bodyPr>
            <a:normAutofit fontScale="62500" lnSpcReduction="20000"/>
          </a:bodyPr>
          <a:lstStyle/>
          <a:p>
            <a:r>
              <a:rPr lang="en-US" sz="4700" dirty="0"/>
              <a:t>𝗖𝗼𝗺𝗽𝗮𝗰𝘁𝗶𝗼𝗻: Combines small files into larger ones to reduce metadata overhead and improve I/O.</a:t>
            </a:r>
          </a:p>
        </p:txBody>
      </p:sp>
      <p:pic>
        <p:nvPicPr>
          <p:cNvPr id="5" name="Graphic 4" descr="Badge 1 outline">
            <a:extLst>
              <a:ext uri="{FF2B5EF4-FFF2-40B4-BE49-F238E27FC236}">
                <a16:creationId xmlns:a16="http://schemas.microsoft.com/office/drawing/2014/main" id="{967D4035-D9D4-9049-D6F5-121BBAF2A2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4" y="701668"/>
            <a:ext cx="1481528" cy="1481528"/>
          </a:xfrm>
          <a:prstGeom prst="rect">
            <a:avLst/>
          </a:prstGeom>
        </p:spPr>
      </p:pic>
      <p:pic>
        <p:nvPicPr>
          <p:cNvPr id="7" name="Graphic 6" descr="Badge outline">
            <a:extLst>
              <a:ext uri="{FF2B5EF4-FFF2-40B4-BE49-F238E27FC236}">
                <a16:creationId xmlns:a16="http://schemas.microsoft.com/office/drawing/2014/main" id="{E77C524B-4F71-305B-ED72-0EF8BAAE33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864" y="2733508"/>
            <a:ext cx="1526498" cy="152649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FA538E-A3EE-1D9F-FB15-EE9AA69DED45}"/>
              </a:ext>
            </a:extLst>
          </p:cNvPr>
          <p:cNvSpPr/>
          <p:nvPr/>
        </p:nvSpPr>
        <p:spPr>
          <a:xfrm>
            <a:off x="8469443" y="6175948"/>
            <a:ext cx="3492708" cy="529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Scroll right ====</a:t>
            </a:r>
            <a:r>
              <a:rPr lang="en-IN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0EA5D67-29EF-7823-C20D-BD8978856DC6}"/>
              </a:ext>
            </a:extLst>
          </p:cNvPr>
          <p:cNvSpPr txBox="1">
            <a:spLocks/>
          </p:cNvSpPr>
          <p:nvPr/>
        </p:nvSpPr>
        <p:spPr>
          <a:xfrm>
            <a:off x="3018019" y="4554096"/>
            <a:ext cx="8416978" cy="1080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𝗣𝗮𝗿𝘁𝗶𝘁𝗶𝗼𝗻𝗶𝗻𝗴: Physically organizes data into separate folders based on column values.</a:t>
            </a:r>
            <a:endParaRPr lang="en-US" sz="4700" dirty="0"/>
          </a:p>
        </p:txBody>
      </p:sp>
      <p:pic>
        <p:nvPicPr>
          <p:cNvPr id="8" name="Graphic 7" descr="Badge 3 outline">
            <a:extLst>
              <a:ext uri="{FF2B5EF4-FFF2-40B4-BE49-F238E27FC236}">
                <a16:creationId xmlns:a16="http://schemas.microsoft.com/office/drawing/2014/main" id="{77D40691-FFE6-EAEB-0629-C5177E0816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438" y="4404783"/>
            <a:ext cx="1379349" cy="137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450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5BBCA-E32E-B8C7-68D8-212492F3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3EC9-41B5-58FE-D8E9-D5F1E2962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1417" y="555949"/>
            <a:ext cx="9943475" cy="2387600"/>
          </a:xfrm>
        </p:spPr>
        <p:txBody>
          <a:bodyPr>
            <a:normAutofit fontScale="90000"/>
          </a:bodyPr>
          <a:lstStyle/>
          <a:p>
            <a:pPr lvl="0" algn="l"/>
            <a:r>
              <a:rPr lang="en-US" sz="3700" dirty="0"/>
              <a:t>𝗔𝘂𝘁𝗼 𝗖𝗼𝗺𝗽𝗮𝗰𝘁𝗶𝗼𝗻: occurs after a write to a table has succeeded to check if files can further be compacted; if yes, it runs an OPTIMIZE job without Z-Ordering toward a file size of 128 MB. </a:t>
            </a:r>
            <a:br>
              <a:rPr lang="en-US" sz="3300" dirty="0"/>
            </a:br>
            <a:endParaRPr lang="en-IN" sz="3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B63BE-83A8-CAF2-7ECF-D13C196B9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4262" y="2943549"/>
            <a:ext cx="9943475" cy="3158527"/>
          </a:xfrm>
        </p:spPr>
        <p:txBody>
          <a:bodyPr>
            <a:normAutofit/>
          </a:bodyPr>
          <a:lstStyle/>
          <a:p>
            <a:pPr algn="l"/>
            <a:r>
              <a:rPr lang="en-US" sz="3300" dirty="0"/>
              <a:t>𝗟𝗶𝗾𝘂𝗶𝗱 𝗖𝗹𝘂𝘀𝘁𝗲𝗿𝗶𝗻𝗴: Dynamically reorganizes data based on query patterns, adapting to your workload without manual tuning. </a:t>
            </a:r>
          </a:p>
          <a:p>
            <a:pPr algn="l"/>
            <a:endParaRPr lang="en-IN" sz="3300" dirty="0"/>
          </a:p>
          <a:p>
            <a:pPr algn="l"/>
            <a:r>
              <a:rPr lang="en-US" dirty="0"/>
              <a:t>𝗩𝗮𝗰𝘂𝘂𝗺: Removes old file versions to reclaim storage space.</a:t>
            </a:r>
            <a:endParaRPr lang="en-IN" sz="3300" dirty="0"/>
          </a:p>
        </p:txBody>
      </p:sp>
      <p:pic>
        <p:nvPicPr>
          <p:cNvPr id="7" name="Graphic 6" descr="Badge 4 outline">
            <a:extLst>
              <a:ext uri="{FF2B5EF4-FFF2-40B4-BE49-F238E27FC236}">
                <a16:creationId xmlns:a16="http://schemas.microsoft.com/office/drawing/2014/main" id="{8ED9F2F6-5BBC-A277-4E63-0772E67B6C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96187"/>
            <a:ext cx="1521417" cy="1521417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5AF3AC-04A2-48BA-41A2-5D72F470CAF6}"/>
              </a:ext>
            </a:extLst>
          </p:cNvPr>
          <p:cNvSpPr/>
          <p:nvPr/>
        </p:nvSpPr>
        <p:spPr>
          <a:xfrm>
            <a:off x="3462729" y="6026047"/>
            <a:ext cx="3492708" cy="529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Scroll right ====</a:t>
            </a:r>
            <a:r>
              <a:rPr lang="en-IN" dirty="0">
                <a:sym typeface="Wingdings" panose="05000000000000000000" pitchFamily="2" charset="2"/>
              </a:rPr>
              <a:t></a:t>
            </a:r>
            <a:endParaRPr lang="en-IN" dirty="0"/>
          </a:p>
        </p:txBody>
      </p:sp>
      <p:pic>
        <p:nvPicPr>
          <p:cNvPr id="6" name="Graphic 5" descr="Badge 5 outline">
            <a:extLst>
              <a:ext uri="{FF2B5EF4-FFF2-40B4-BE49-F238E27FC236}">
                <a16:creationId xmlns:a16="http://schemas.microsoft.com/office/drawing/2014/main" id="{02FF5250-A060-1B9D-C630-4F1510B4DD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943549"/>
            <a:ext cx="1316637" cy="1316637"/>
          </a:xfrm>
          <a:prstGeom prst="rect">
            <a:avLst/>
          </a:prstGeom>
        </p:spPr>
      </p:pic>
      <p:pic>
        <p:nvPicPr>
          <p:cNvPr id="10" name="Graphic 9" descr="Badge 6 outline">
            <a:extLst>
              <a:ext uri="{FF2B5EF4-FFF2-40B4-BE49-F238E27FC236}">
                <a16:creationId xmlns:a16="http://schemas.microsoft.com/office/drawing/2014/main" id="{6064EA02-9C53-A855-3DD7-1827EEFDCA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30" y="4709410"/>
            <a:ext cx="1316637" cy="131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61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D5961-8CAF-203E-628D-F949141DF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72471-06D7-A5BA-DEB6-B6360030B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6087116" cy="4567137"/>
          </a:xfrm>
        </p:spPr>
        <p:txBody>
          <a:bodyPr>
            <a:normAutofit/>
          </a:bodyPr>
          <a:lstStyle/>
          <a:p>
            <a:pPr algn="l"/>
            <a:r>
              <a:rPr lang="en-IN" sz="4400" dirty="0"/>
              <a:t>Start building your future in</a:t>
            </a:r>
            <a:br>
              <a:rPr lang="en-IN" sz="4400" dirty="0"/>
            </a:br>
            <a:r>
              <a:rPr lang="en-IN" sz="8800" b="1" dirty="0">
                <a:solidFill>
                  <a:srgbClr val="00B050"/>
                </a:solidFill>
              </a:rPr>
              <a:t>Data Engineering</a:t>
            </a:r>
            <a:br>
              <a:rPr lang="en-IN" sz="4400" dirty="0"/>
            </a:b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EAA38-033B-B212-7779-9B4F721D7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IN" sz="1700"/>
              <a:t>Save this. Share it. </a:t>
            </a:r>
          </a:p>
          <a:p>
            <a:pPr algn="l"/>
            <a:r>
              <a:rPr lang="en-IN" sz="1700" b="1"/>
              <a:t>Follow for Data Engineering Interview Tips</a:t>
            </a:r>
          </a:p>
          <a:p>
            <a:pPr algn="l"/>
            <a:endParaRPr lang="en-IN" sz="1700" b="1"/>
          </a:p>
        </p:txBody>
      </p:sp>
      <p:pic>
        <p:nvPicPr>
          <p:cNvPr id="7" name="Picture 6" descr="Man using tablet in a library">
            <a:extLst>
              <a:ext uri="{FF2B5EF4-FFF2-40B4-BE49-F238E27FC236}">
                <a16:creationId xmlns:a16="http://schemas.microsoft.com/office/drawing/2014/main" id="{F6E5944F-1D58-20CC-F288-B31151591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2" r="36731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66468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220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Sample Design:  No Company Logo, No Mentor’s Name</vt:lpstr>
      <vt:lpstr>Sample Design:  No Company Logo, No Mentor’s Name</vt:lpstr>
      <vt:lpstr>Sample Design:  No Company Logo, No Mentor’s Name</vt:lpstr>
      <vt:lpstr>Sample Design:  No Company Logo, No Mentor’s Name</vt:lpstr>
      <vt:lpstr>6 key Delta Lake optimization techniques in Databricks that can cut your query times from hours to minutes.</vt:lpstr>
      <vt:lpstr>𝗭-𝗢𝗿𝗱𝗲𝗿𝗶𝗻𝗴:  is a technique to colocate related information in the same set of files.  </vt:lpstr>
      <vt:lpstr>𝗔𝘂𝘁𝗼 𝗖𝗼𝗺𝗽𝗮𝗰𝘁𝗶𝗼𝗻: occurs after a write to a table has succeeded to check if files can further be compacted; if yes, it runs an OPTIMIZE job without Z-Ordering toward a file size of 128 MB.  </vt:lpstr>
      <vt:lpstr>Start building your future in Data Engineering </vt:lpstr>
    </vt:vector>
  </TitlesOfParts>
  <Company>Teleperformance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Saxena</dc:creator>
  <cp:lastModifiedBy>Sachin Saxena</cp:lastModifiedBy>
  <cp:revision>18</cp:revision>
  <dcterms:created xsi:type="dcterms:W3CDTF">2026-09-24T13:12:32Z</dcterms:created>
  <dcterms:modified xsi:type="dcterms:W3CDTF">2026-09-24T14:29:52Z</dcterms:modified>
</cp:coreProperties>
</file>