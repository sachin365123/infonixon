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3" r:id="rId4"/>
    <p:sldId id="264" r:id="rId5"/>
    <p:sldId id="256" r:id="rId6"/>
    <p:sldId id="257" r:id="rId7"/>
    <p:sldId id="259" r:id="rId8"/>
    <p:sldId id="25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71C0D-81D0-F4B4-C627-664A78FD22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BBE9E08-907E-2F6A-E239-24C4A5D6E2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347F1FB-44FF-A1A1-1B01-8AB393270203}"/>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5" name="Footer Placeholder 4">
            <a:extLst>
              <a:ext uri="{FF2B5EF4-FFF2-40B4-BE49-F238E27FC236}">
                <a16:creationId xmlns:a16="http://schemas.microsoft.com/office/drawing/2014/main" id="{0E247D96-B6A3-6326-6246-62B1E57B37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F69CB0-3423-6DE2-5147-B2E8D18C8E8D}"/>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1752139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9AD6C-4399-CF51-D1F3-9D0FA03BAB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38A57D-7193-C4AF-F936-5FD607C708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B56AA7-C9AB-5A75-31EB-B01F0D4BF6F3}"/>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5" name="Footer Placeholder 4">
            <a:extLst>
              <a:ext uri="{FF2B5EF4-FFF2-40B4-BE49-F238E27FC236}">
                <a16:creationId xmlns:a16="http://schemas.microsoft.com/office/drawing/2014/main" id="{8AD7077A-CFD9-CCE3-95FD-B4E5B34A09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53543D-EDEB-C91A-78E8-5B6D8948C67F}"/>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2426863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B2610-06CF-F629-7A32-F13F58DEEB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EE7F27-780F-08BD-A296-5B0A98CA47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6E2602-E672-3E92-F7F6-42565AF4AA9D}"/>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5" name="Footer Placeholder 4">
            <a:extLst>
              <a:ext uri="{FF2B5EF4-FFF2-40B4-BE49-F238E27FC236}">
                <a16:creationId xmlns:a16="http://schemas.microsoft.com/office/drawing/2014/main" id="{E6A546CE-FF0A-8F0E-55C9-4E79061987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4DE147-039A-A81F-B7C4-F5019BA0B455}"/>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3900583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4AA22-9167-1AD4-9E17-2F096933FD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B47572-E89E-D1C5-CF67-DB197B1E1D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C3895CC-1B16-D338-8E50-D62B23FBAB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3483A3-529A-3DAE-C884-B8AA22B78EA2}"/>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6" name="Footer Placeholder 5">
            <a:extLst>
              <a:ext uri="{FF2B5EF4-FFF2-40B4-BE49-F238E27FC236}">
                <a16:creationId xmlns:a16="http://schemas.microsoft.com/office/drawing/2014/main" id="{39B4F790-43A4-D001-29C5-170A9C5F38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73926A-7457-40BF-5F9E-00A0546314CD}"/>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1037242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57C2E-C242-0E59-D32E-77E51457EF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EBCABA-D738-627D-698A-5E48C96341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7C3252-0A40-D24F-353C-DFE7937FF9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4CD48C9-CE00-3AD4-4A21-A372FEFCB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B1459B-01A6-E824-2EF7-D9E573B688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DEA0F5-0508-DB40-D9FD-DDFCCEF8354E}"/>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8" name="Footer Placeholder 7">
            <a:extLst>
              <a:ext uri="{FF2B5EF4-FFF2-40B4-BE49-F238E27FC236}">
                <a16:creationId xmlns:a16="http://schemas.microsoft.com/office/drawing/2014/main" id="{F05ADB99-CA7B-7011-4523-694CBB93E6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0EABB8-3645-B630-DA9C-C8613AC49982}"/>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2806498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5DBAE-C987-3869-DD05-6F65D526A25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597B3A-A0CD-2384-E486-D484C4E3718C}"/>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4" name="Footer Placeholder 3">
            <a:extLst>
              <a:ext uri="{FF2B5EF4-FFF2-40B4-BE49-F238E27FC236}">
                <a16:creationId xmlns:a16="http://schemas.microsoft.com/office/drawing/2014/main" id="{3E00CADB-3659-AC38-B4A5-6CDCA0F283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D94DFD-9842-BDA0-E2BD-E083E2394177}"/>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459188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A7751-42A2-574B-3917-50B889D04070}"/>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3" name="Footer Placeholder 2">
            <a:extLst>
              <a:ext uri="{FF2B5EF4-FFF2-40B4-BE49-F238E27FC236}">
                <a16:creationId xmlns:a16="http://schemas.microsoft.com/office/drawing/2014/main" id="{FD8280F4-5DBD-0B10-3878-EE024ADB6BE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93DC7A-9897-C88F-D61A-A476C76218FB}"/>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1369251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64025-67FD-DE1E-D0E7-E96D365057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C52DB7-1D46-CBBD-CECE-916192F8FF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3C1B75-1E9B-249D-CBDA-549100B5D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F9886-6FC6-4434-040A-C27CC5E27AA6}"/>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6" name="Footer Placeholder 5">
            <a:extLst>
              <a:ext uri="{FF2B5EF4-FFF2-40B4-BE49-F238E27FC236}">
                <a16:creationId xmlns:a16="http://schemas.microsoft.com/office/drawing/2014/main" id="{53984577-3B03-FF04-316F-94536BACF2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556EE0-E0B6-17EB-9C9E-2BE585A7DA58}"/>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1256455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B7EE-4776-964B-2E23-30C93242D4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1CDF87-0594-5157-E10D-33774EA2AF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E9B5B4-A97F-E491-A89E-1C0CE235E0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F79040-1054-C60F-EA9F-7D8A8B85C1A4}"/>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6" name="Footer Placeholder 5">
            <a:extLst>
              <a:ext uri="{FF2B5EF4-FFF2-40B4-BE49-F238E27FC236}">
                <a16:creationId xmlns:a16="http://schemas.microsoft.com/office/drawing/2014/main" id="{DBE2A105-5E88-6DE8-40C7-50F44557D6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F30819-5C2F-7AF5-6299-6FFA92215E8F}"/>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3723101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6D644-E01E-0E37-2E09-30CBFD0C9F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63073F-69AE-D75F-CE50-C02BC133B9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AD8AA1-C722-AA4B-60BF-1CEBA9E594D4}"/>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5" name="Footer Placeholder 4">
            <a:extLst>
              <a:ext uri="{FF2B5EF4-FFF2-40B4-BE49-F238E27FC236}">
                <a16:creationId xmlns:a16="http://schemas.microsoft.com/office/drawing/2014/main" id="{F98D6E9F-0639-BC04-3ECD-07429ECF97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3247EB-1A3B-32AC-9A40-5B2E1F34951D}"/>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337553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14DF77-F127-415C-BEA9-8F9F02B745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B201DD-73AB-BF69-8F5A-9463EFB521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AA4E33-BFF4-723D-859D-9FF0AC7B5BE7}"/>
              </a:ext>
            </a:extLst>
          </p:cNvPr>
          <p:cNvSpPr>
            <a:spLocks noGrp="1"/>
          </p:cNvSpPr>
          <p:nvPr>
            <p:ph type="dt" sz="half" idx="10"/>
          </p:nvPr>
        </p:nvSpPr>
        <p:spPr/>
        <p:txBody>
          <a:bodyPr/>
          <a:lstStyle/>
          <a:p>
            <a:fld id="{6A7F24E7-8877-482D-A37C-BED11A38E2C2}" type="datetimeFigureOut">
              <a:rPr lang="en-IN" smtClean="0"/>
              <a:t>24-09-2026</a:t>
            </a:fld>
            <a:endParaRPr lang="en-IN"/>
          </a:p>
        </p:txBody>
      </p:sp>
      <p:sp>
        <p:nvSpPr>
          <p:cNvPr id="5" name="Footer Placeholder 4">
            <a:extLst>
              <a:ext uri="{FF2B5EF4-FFF2-40B4-BE49-F238E27FC236}">
                <a16:creationId xmlns:a16="http://schemas.microsoft.com/office/drawing/2014/main" id="{D6F0610D-7F2F-F49E-EF22-9B413F5B7B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BF79CF-0148-1F5A-8315-81413A99564C}"/>
              </a:ext>
            </a:extLst>
          </p:cNvPr>
          <p:cNvSpPr>
            <a:spLocks noGrp="1"/>
          </p:cNvSpPr>
          <p:nvPr>
            <p:ph type="sldNum" sz="quarter" idx="12"/>
          </p:nvPr>
        </p:nvSpPr>
        <p:spPr/>
        <p:txBody>
          <a:bodyPr/>
          <a:lstStyle/>
          <a:p>
            <a:fld id="{870EAC8B-36DB-49C6-BB42-6C161E24FE15}" type="slidenum">
              <a:rPr lang="en-IN" smtClean="0"/>
              <a:t>‹#›</a:t>
            </a:fld>
            <a:endParaRPr lang="en-IN"/>
          </a:p>
        </p:txBody>
      </p:sp>
    </p:spTree>
    <p:extLst>
      <p:ext uri="{BB962C8B-B14F-4D97-AF65-F5344CB8AC3E}">
        <p14:creationId xmlns:p14="http://schemas.microsoft.com/office/powerpoint/2010/main" val="344665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86EAE1-ADEC-B886-E618-34B28A5FF0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C98949-CB68-929D-772B-7A81567458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22EAF5-2E80-B3FC-7413-D77DBF58EA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7F24E7-8877-482D-A37C-BED11A38E2C2}" type="datetimeFigureOut">
              <a:rPr lang="en-IN" smtClean="0"/>
              <a:t>24-09-2026</a:t>
            </a:fld>
            <a:endParaRPr lang="en-IN"/>
          </a:p>
        </p:txBody>
      </p:sp>
      <p:sp>
        <p:nvSpPr>
          <p:cNvPr id="5" name="Footer Placeholder 4">
            <a:extLst>
              <a:ext uri="{FF2B5EF4-FFF2-40B4-BE49-F238E27FC236}">
                <a16:creationId xmlns:a16="http://schemas.microsoft.com/office/drawing/2014/main" id="{C642DC32-D156-5B3E-4687-A96A9B5A49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F3D79A4-D193-6E8E-A8AA-A7911A1C0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0EAC8B-36DB-49C6-BB42-6C161E24FE15}" type="slidenum">
              <a:rPr lang="en-IN" smtClean="0"/>
              <a:t>‹#›</a:t>
            </a:fld>
            <a:endParaRPr lang="en-IN"/>
          </a:p>
        </p:txBody>
      </p:sp>
    </p:spTree>
    <p:extLst>
      <p:ext uri="{BB962C8B-B14F-4D97-AF65-F5344CB8AC3E}">
        <p14:creationId xmlns:p14="http://schemas.microsoft.com/office/powerpoint/2010/main" val="3681211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50C8-C55F-751B-F9E1-EB84414D73AF}"/>
              </a:ext>
            </a:extLst>
          </p:cNvPr>
          <p:cNvSpPr>
            <a:spLocks noGrp="1"/>
          </p:cNvSpPr>
          <p:nvPr>
            <p:ph type="title"/>
          </p:nvPr>
        </p:nvSpPr>
        <p:spPr>
          <a:xfrm>
            <a:off x="899410" y="629587"/>
            <a:ext cx="8814217" cy="479685"/>
          </a:xfrm>
        </p:spPr>
        <p:txBody>
          <a:bodyPr>
            <a:normAutofit fontScale="90000"/>
          </a:bodyPr>
          <a:lstStyle/>
          <a:p>
            <a:r>
              <a:rPr lang="en-IN" dirty="0"/>
              <a:t>Sample Design: </a:t>
            </a:r>
            <a:br>
              <a:rPr lang="en-IN" dirty="0"/>
            </a:br>
            <a:r>
              <a:rPr lang="en-IN" dirty="0"/>
              <a:t>No Company Logo,</a:t>
            </a:r>
            <a:br>
              <a:rPr lang="en-IN" dirty="0"/>
            </a:br>
            <a:r>
              <a:rPr lang="en-IN" dirty="0"/>
              <a:t>No Mentor’s Name</a:t>
            </a:r>
          </a:p>
        </p:txBody>
      </p:sp>
      <p:pic>
        <p:nvPicPr>
          <p:cNvPr id="5" name="Content Placeholder 4">
            <a:extLst>
              <a:ext uri="{FF2B5EF4-FFF2-40B4-BE49-F238E27FC236}">
                <a16:creationId xmlns:a16="http://schemas.microsoft.com/office/drawing/2014/main" id="{59383BA8-A8EF-C412-D92F-8AA286700E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0688"/>
            <a:ext cx="9186332" cy="5167312"/>
          </a:xfrm>
          <a:prstGeom prst="rect">
            <a:avLst/>
          </a:prstGeom>
        </p:spPr>
      </p:pic>
    </p:spTree>
    <p:extLst>
      <p:ext uri="{BB962C8B-B14F-4D97-AF65-F5344CB8AC3E}">
        <p14:creationId xmlns:p14="http://schemas.microsoft.com/office/powerpoint/2010/main" val="385160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DE38F-519E-0E8D-ED5E-C027C32F6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F32E8-890E-7478-7E00-D0D88F5145EB}"/>
              </a:ext>
            </a:extLst>
          </p:cNvPr>
          <p:cNvSpPr>
            <a:spLocks noGrp="1"/>
          </p:cNvSpPr>
          <p:nvPr>
            <p:ph type="title"/>
          </p:nvPr>
        </p:nvSpPr>
        <p:spPr>
          <a:xfrm>
            <a:off x="899410" y="629587"/>
            <a:ext cx="8814217" cy="479685"/>
          </a:xfrm>
        </p:spPr>
        <p:txBody>
          <a:bodyPr>
            <a:normAutofit fontScale="90000"/>
          </a:bodyPr>
          <a:lstStyle/>
          <a:p>
            <a:r>
              <a:rPr lang="en-IN" dirty="0"/>
              <a:t>Sample Design: </a:t>
            </a:r>
            <a:br>
              <a:rPr lang="en-IN" dirty="0"/>
            </a:br>
            <a:r>
              <a:rPr lang="en-IN" dirty="0"/>
              <a:t>No Company Logo,</a:t>
            </a:r>
            <a:br>
              <a:rPr lang="en-IN" dirty="0"/>
            </a:br>
            <a:r>
              <a:rPr lang="en-IN" dirty="0"/>
              <a:t>No Mentor’s Name</a:t>
            </a:r>
          </a:p>
        </p:txBody>
      </p:sp>
      <p:sp>
        <p:nvSpPr>
          <p:cNvPr id="4" name="Content Placeholder 3">
            <a:extLst>
              <a:ext uri="{FF2B5EF4-FFF2-40B4-BE49-F238E27FC236}">
                <a16:creationId xmlns:a16="http://schemas.microsoft.com/office/drawing/2014/main" id="{5DFDAB73-7764-6B1F-B299-26C00A59DCF9}"/>
              </a:ext>
            </a:extLst>
          </p:cNvPr>
          <p:cNvSpPr>
            <a:spLocks noGrp="1"/>
          </p:cNvSpPr>
          <p:nvPr>
            <p:ph idx="1"/>
          </p:nvPr>
        </p:nvSpPr>
        <p:spPr/>
        <p:txBody>
          <a:bodyPr/>
          <a:lstStyle/>
          <a:p>
            <a:endParaRPr lang="en-IN"/>
          </a:p>
        </p:txBody>
      </p:sp>
      <p:pic>
        <p:nvPicPr>
          <p:cNvPr id="6" name="Picture 5" descr="How to Create a LinkedIn Carousel in PowerPoint">
            <a:extLst>
              <a:ext uri="{FF2B5EF4-FFF2-40B4-BE49-F238E27FC236}">
                <a16:creationId xmlns:a16="http://schemas.microsoft.com/office/drawing/2014/main" id="{37C5491F-7EE5-E195-E870-18AD373199EC}"/>
              </a:ext>
            </a:extLst>
          </p:cNvPr>
          <p:cNvPicPr>
            <a:picLocks noChangeAspect="1"/>
          </p:cNvPicPr>
          <p:nvPr/>
        </p:nvPicPr>
        <p:blipFill>
          <a:blip r:embed="rId2"/>
          <a:stretch>
            <a:fillRect/>
          </a:stretch>
        </p:blipFill>
        <p:spPr>
          <a:xfrm>
            <a:off x="399112" y="2270658"/>
            <a:ext cx="7036009" cy="3957755"/>
          </a:xfrm>
          <a:prstGeom prst="rect">
            <a:avLst/>
          </a:prstGeom>
        </p:spPr>
      </p:pic>
    </p:spTree>
    <p:extLst>
      <p:ext uri="{BB962C8B-B14F-4D97-AF65-F5344CB8AC3E}">
        <p14:creationId xmlns:p14="http://schemas.microsoft.com/office/powerpoint/2010/main" val="3863110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BFCD7-95E7-10EF-7F3C-9182E2387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8B793-A624-3582-0108-161F070919B4}"/>
              </a:ext>
            </a:extLst>
          </p:cNvPr>
          <p:cNvSpPr>
            <a:spLocks noGrp="1"/>
          </p:cNvSpPr>
          <p:nvPr>
            <p:ph type="title"/>
          </p:nvPr>
        </p:nvSpPr>
        <p:spPr>
          <a:xfrm>
            <a:off x="899410" y="629587"/>
            <a:ext cx="8814217" cy="479685"/>
          </a:xfrm>
        </p:spPr>
        <p:txBody>
          <a:bodyPr>
            <a:normAutofit fontScale="90000"/>
          </a:bodyPr>
          <a:lstStyle/>
          <a:p>
            <a:r>
              <a:rPr lang="en-IN" dirty="0"/>
              <a:t>Sample Design: </a:t>
            </a:r>
            <a:br>
              <a:rPr lang="en-IN" dirty="0"/>
            </a:br>
            <a:r>
              <a:rPr lang="en-IN" dirty="0"/>
              <a:t>No Company Logo,</a:t>
            </a:r>
            <a:br>
              <a:rPr lang="en-IN" dirty="0"/>
            </a:br>
            <a:r>
              <a:rPr lang="en-IN" dirty="0"/>
              <a:t>No Mentor’s Name</a:t>
            </a:r>
          </a:p>
        </p:txBody>
      </p:sp>
      <p:sp>
        <p:nvSpPr>
          <p:cNvPr id="4" name="Content Placeholder 3">
            <a:extLst>
              <a:ext uri="{FF2B5EF4-FFF2-40B4-BE49-F238E27FC236}">
                <a16:creationId xmlns:a16="http://schemas.microsoft.com/office/drawing/2014/main" id="{4FE1E15A-723A-D6F2-B774-C69BB3117DED}"/>
              </a:ext>
            </a:extLst>
          </p:cNvPr>
          <p:cNvSpPr>
            <a:spLocks noGrp="1"/>
          </p:cNvSpPr>
          <p:nvPr>
            <p:ph idx="1"/>
          </p:nvPr>
        </p:nvSpPr>
        <p:spPr/>
        <p:txBody>
          <a:bodyPr/>
          <a:lstStyle/>
          <a:p>
            <a:endParaRPr lang="en-IN"/>
          </a:p>
        </p:txBody>
      </p:sp>
      <p:pic>
        <p:nvPicPr>
          <p:cNvPr id="3" name="Picture 2" descr="Linkedin Carousel designs, themes, templates and downloadable graphic  elements on Dribbble">
            <a:extLst>
              <a:ext uri="{FF2B5EF4-FFF2-40B4-BE49-F238E27FC236}">
                <a16:creationId xmlns:a16="http://schemas.microsoft.com/office/drawing/2014/main" id="{FC86563A-C979-134F-FC34-D1FB1F7D3BC6}"/>
              </a:ext>
            </a:extLst>
          </p:cNvPr>
          <p:cNvPicPr>
            <a:picLocks noChangeAspect="1"/>
          </p:cNvPicPr>
          <p:nvPr/>
        </p:nvPicPr>
        <p:blipFill>
          <a:blip r:embed="rId2"/>
          <a:srcRect t="23580" b="25079"/>
          <a:stretch>
            <a:fillRect/>
          </a:stretch>
        </p:blipFill>
        <p:spPr>
          <a:xfrm>
            <a:off x="533732" y="1947641"/>
            <a:ext cx="10708397" cy="4123375"/>
          </a:xfrm>
          <a:prstGeom prst="rect">
            <a:avLst/>
          </a:prstGeom>
        </p:spPr>
      </p:pic>
    </p:spTree>
    <p:extLst>
      <p:ext uri="{BB962C8B-B14F-4D97-AF65-F5344CB8AC3E}">
        <p14:creationId xmlns:p14="http://schemas.microsoft.com/office/powerpoint/2010/main" val="3969303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6E23-9338-9186-5475-2D93B6024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9F5F6-55CB-B24F-3015-4DFA032AC327}"/>
              </a:ext>
            </a:extLst>
          </p:cNvPr>
          <p:cNvSpPr>
            <a:spLocks noGrp="1"/>
          </p:cNvSpPr>
          <p:nvPr>
            <p:ph type="title"/>
          </p:nvPr>
        </p:nvSpPr>
        <p:spPr>
          <a:xfrm>
            <a:off x="899410" y="629587"/>
            <a:ext cx="8814217" cy="479685"/>
          </a:xfrm>
        </p:spPr>
        <p:txBody>
          <a:bodyPr>
            <a:normAutofit fontScale="90000"/>
          </a:bodyPr>
          <a:lstStyle/>
          <a:p>
            <a:r>
              <a:rPr lang="en-IN" dirty="0"/>
              <a:t>Sample Design: </a:t>
            </a:r>
            <a:br>
              <a:rPr lang="en-IN" dirty="0"/>
            </a:br>
            <a:r>
              <a:rPr lang="en-IN" dirty="0"/>
              <a:t>No Company Logo,</a:t>
            </a:r>
            <a:br>
              <a:rPr lang="en-IN" dirty="0"/>
            </a:br>
            <a:r>
              <a:rPr lang="en-IN" dirty="0"/>
              <a:t>No Mentor’s Name</a:t>
            </a:r>
          </a:p>
        </p:txBody>
      </p:sp>
      <p:sp>
        <p:nvSpPr>
          <p:cNvPr id="4" name="Content Placeholder 3">
            <a:extLst>
              <a:ext uri="{FF2B5EF4-FFF2-40B4-BE49-F238E27FC236}">
                <a16:creationId xmlns:a16="http://schemas.microsoft.com/office/drawing/2014/main" id="{4B41AC54-F34B-7DEF-C921-3F2D833B9507}"/>
              </a:ext>
            </a:extLst>
          </p:cNvPr>
          <p:cNvSpPr>
            <a:spLocks noGrp="1"/>
          </p:cNvSpPr>
          <p:nvPr>
            <p:ph idx="1"/>
          </p:nvPr>
        </p:nvSpPr>
        <p:spPr/>
        <p:txBody>
          <a:bodyPr/>
          <a:lstStyle/>
          <a:p>
            <a:endParaRPr lang="en-IN"/>
          </a:p>
        </p:txBody>
      </p:sp>
      <p:pic>
        <p:nvPicPr>
          <p:cNvPr id="5" name="Picture 4" descr="Linkedin Carousel Images – Browse 1,156 Stock Photos, Vectors, and Video |  Adobe Stock">
            <a:extLst>
              <a:ext uri="{FF2B5EF4-FFF2-40B4-BE49-F238E27FC236}">
                <a16:creationId xmlns:a16="http://schemas.microsoft.com/office/drawing/2014/main" id="{762DFF07-B1B1-E351-13D3-D9CF58EFC0F3}"/>
              </a:ext>
            </a:extLst>
          </p:cNvPr>
          <p:cNvPicPr>
            <a:picLocks noChangeAspect="1"/>
          </p:cNvPicPr>
          <p:nvPr/>
        </p:nvPicPr>
        <p:blipFill>
          <a:blip r:embed="rId2"/>
          <a:stretch>
            <a:fillRect/>
          </a:stretch>
        </p:blipFill>
        <p:spPr>
          <a:xfrm>
            <a:off x="418474" y="2361700"/>
            <a:ext cx="11048229" cy="3679336"/>
          </a:xfrm>
          <a:prstGeom prst="rect">
            <a:avLst/>
          </a:prstGeom>
        </p:spPr>
      </p:pic>
    </p:spTree>
    <p:extLst>
      <p:ext uri="{BB962C8B-B14F-4D97-AF65-F5344CB8AC3E}">
        <p14:creationId xmlns:p14="http://schemas.microsoft.com/office/powerpoint/2010/main" val="414792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C0514-A18F-260B-A23D-2FD524D3B7B8}"/>
              </a:ext>
            </a:extLst>
          </p:cNvPr>
          <p:cNvSpPr>
            <a:spLocks noGrp="1"/>
          </p:cNvSpPr>
          <p:nvPr>
            <p:ph type="ctrTitle"/>
          </p:nvPr>
        </p:nvSpPr>
        <p:spPr>
          <a:xfrm>
            <a:off x="279816" y="2709472"/>
            <a:ext cx="9144000" cy="2387600"/>
          </a:xfrm>
        </p:spPr>
        <p:txBody>
          <a:bodyPr>
            <a:noAutofit/>
          </a:bodyPr>
          <a:lstStyle/>
          <a:p>
            <a:r>
              <a:rPr lang="en-IN" b="1" dirty="0"/>
              <a:t>What are DAG, Jobs, Stages and </a:t>
            </a:r>
            <a:r>
              <a:rPr lang="en-IN" b="1" dirty="0">
                <a:solidFill>
                  <a:srgbClr val="FF0000"/>
                </a:solidFill>
              </a:rPr>
              <a:t>Task</a:t>
            </a:r>
            <a:r>
              <a:rPr lang="en-IN" b="1" dirty="0"/>
              <a:t> in Spark Databricks?</a:t>
            </a:r>
            <a:endParaRPr lang="en-IN" sz="8800" dirty="0"/>
          </a:p>
        </p:txBody>
      </p:sp>
      <p:sp>
        <p:nvSpPr>
          <p:cNvPr id="8" name="Rectangle: Rounded Corners 7">
            <a:extLst>
              <a:ext uri="{FF2B5EF4-FFF2-40B4-BE49-F238E27FC236}">
                <a16:creationId xmlns:a16="http://schemas.microsoft.com/office/drawing/2014/main" id="{CDE51F18-AA9D-E3AE-D85A-1C8AB243B0AF}"/>
              </a:ext>
            </a:extLst>
          </p:cNvPr>
          <p:cNvSpPr/>
          <p:nvPr/>
        </p:nvSpPr>
        <p:spPr>
          <a:xfrm>
            <a:off x="1394085" y="5501390"/>
            <a:ext cx="5096656" cy="7195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Scroll right ====</a:t>
            </a:r>
            <a:r>
              <a:rPr lang="en-IN" dirty="0">
                <a:sym typeface="Wingdings" panose="05000000000000000000" pitchFamily="2" charset="2"/>
              </a:rPr>
              <a:t></a:t>
            </a:r>
            <a:endParaRPr lang="en-IN" dirty="0"/>
          </a:p>
        </p:txBody>
      </p:sp>
      <p:pic>
        <p:nvPicPr>
          <p:cNvPr id="7" name="Picture 6" descr="Circle Transparent Images – Browse 1,531,759 Stock Photos, Vectors, and  Video | Adobe Stock">
            <a:extLst>
              <a:ext uri="{FF2B5EF4-FFF2-40B4-BE49-F238E27FC236}">
                <a16:creationId xmlns:a16="http://schemas.microsoft.com/office/drawing/2014/main" id="{B07ED4AD-DBA7-2C34-BCC3-EEF45CB72E96}"/>
              </a:ext>
            </a:extLst>
          </p:cNvPr>
          <p:cNvPicPr>
            <a:picLocks noChangeAspect="1"/>
          </p:cNvPicPr>
          <p:nvPr/>
        </p:nvPicPr>
        <p:blipFill>
          <a:blip r:embed="rId2"/>
          <a:srcRect/>
          <a:stretch>
            <a:fillRect/>
          </a:stretch>
        </p:blipFill>
        <p:spPr>
          <a:xfrm>
            <a:off x="6490741" y="2125272"/>
            <a:ext cx="3447738" cy="1485129"/>
          </a:xfrm>
          <a:prstGeom prst="rect">
            <a:avLst/>
          </a:prstGeom>
        </p:spPr>
      </p:pic>
      <p:sp>
        <p:nvSpPr>
          <p:cNvPr id="5" name="Title 1">
            <a:extLst>
              <a:ext uri="{FF2B5EF4-FFF2-40B4-BE49-F238E27FC236}">
                <a16:creationId xmlns:a16="http://schemas.microsoft.com/office/drawing/2014/main" id="{67FD33B4-020C-0D63-8468-08D5BCB82277}"/>
              </a:ext>
            </a:extLst>
          </p:cNvPr>
          <p:cNvSpPr txBox="1">
            <a:spLocks/>
          </p:cNvSpPr>
          <p:nvPr/>
        </p:nvSpPr>
        <p:spPr>
          <a:xfrm>
            <a:off x="279816" y="119713"/>
            <a:ext cx="9144000" cy="23876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8800"/>
              <a:t>Databricks Interview Question</a:t>
            </a:r>
            <a:endParaRPr lang="en-IN" sz="8800" dirty="0"/>
          </a:p>
        </p:txBody>
      </p:sp>
    </p:spTree>
    <p:extLst>
      <p:ext uri="{BB962C8B-B14F-4D97-AF65-F5344CB8AC3E}">
        <p14:creationId xmlns:p14="http://schemas.microsoft.com/office/powerpoint/2010/main" val="1226194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2EC15-C793-90E6-F5C5-FE3ECFC68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EBCA7-A01A-6B20-B9D4-0523E4C21A87}"/>
              </a:ext>
            </a:extLst>
          </p:cNvPr>
          <p:cNvSpPr>
            <a:spLocks noGrp="1"/>
          </p:cNvSpPr>
          <p:nvPr>
            <p:ph type="ctrTitle"/>
          </p:nvPr>
        </p:nvSpPr>
        <p:spPr>
          <a:xfrm>
            <a:off x="405983" y="1939412"/>
            <a:ext cx="7823617" cy="1088600"/>
          </a:xfrm>
        </p:spPr>
        <p:txBody>
          <a:bodyPr>
            <a:noAutofit/>
          </a:bodyPr>
          <a:lstStyle/>
          <a:p>
            <a:pPr algn="l"/>
            <a:r>
              <a:rPr lang="en-US" sz="2200" b="1" dirty="0"/>
              <a:t>DAG: </a:t>
            </a:r>
            <a:r>
              <a:rPr lang="en-US" sz="2200" dirty="0"/>
              <a:t>Spark uses a DAG (Directed Acyclic Graph) scheduler, which schedules stages of tasks. Represents the logical execution plan, showing task dependencies. The DAG scheduler optimizes execution by breaking operations into stages and minimizing data shuffling.</a:t>
            </a:r>
            <a:br>
              <a:rPr lang="en-US" sz="2200" dirty="0"/>
            </a:br>
            <a:br>
              <a:rPr lang="en-US" sz="2200" dirty="0"/>
            </a:br>
            <a:endParaRPr lang="en-IN" sz="2200" dirty="0"/>
          </a:p>
        </p:txBody>
      </p:sp>
      <p:sp>
        <p:nvSpPr>
          <p:cNvPr id="3" name="Subtitle 2">
            <a:extLst>
              <a:ext uri="{FF2B5EF4-FFF2-40B4-BE49-F238E27FC236}">
                <a16:creationId xmlns:a16="http://schemas.microsoft.com/office/drawing/2014/main" id="{E5AB798F-BEA0-1D60-6021-CD83019E75E5}"/>
              </a:ext>
            </a:extLst>
          </p:cNvPr>
          <p:cNvSpPr>
            <a:spLocks noGrp="1"/>
          </p:cNvSpPr>
          <p:nvPr>
            <p:ph type="subTitle" idx="1"/>
          </p:nvPr>
        </p:nvSpPr>
        <p:spPr>
          <a:xfrm>
            <a:off x="744511" y="4041101"/>
            <a:ext cx="10702977" cy="1526498"/>
          </a:xfrm>
        </p:spPr>
        <p:txBody>
          <a:bodyPr>
            <a:normAutofit/>
          </a:bodyPr>
          <a:lstStyle/>
          <a:p>
            <a:pPr algn="l"/>
            <a:r>
              <a:rPr lang="en-IN" sz="2200" b="1" dirty="0"/>
              <a:t>Jobs:</a:t>
            </a:r>
            <a:r>
              <a:rPr lang="en-IN" sz="2200" dirty="0"/>
              <a:t> A job in Spark refers to a sequence of transformations on data. Whenever an action like count(), first(), collect(), and save() is called on RDD (Resilient Distributed Datasets), a job is created. A job could be thought of as the total work that your Spark application needs to perform, broken down into a series of steps.</a:t>
            </a:r>
          </a:p>
          <a:p>
            <a:pPr lvl="0" algn="l"/>
            <a:endParaRPr lang="en-IN" sz="2200" dirty="0"/>
          </a:p>
        </p:txBody>
      </p:sp>
      <p:sp>
        <p:nvSpPr>
          <p:cNvPr id="11" name="Rectangle: Rounded Corners 10">
            <a:extLst>
              <a:ext uri="{FF2B5EF4-FFF2-40B4-BE49-F238E27FC236}">
                <a16:creationId xmlns:a16="http://schemas.microsoft.com/office/drawing/2014/main" id="{5AFA538E-A3EE-1D9F-FB15-EE9AA69DED45}"/>
              </a:ext>
            </a:extLst>
          </p:cNvPr>
          <p:cNvSpPr/>
          <p:nvPr/>
        </p:nvSpPr>
        <p:spPr>
          <a:xfrm>
            <a:off x="8469443" y="6175948"/>
            <a:ext cx="3492708" cy="52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Scroll right ====</a:t>
            </a:r>
            <a:r>
              <a:rPr lang="en-IN" dirty="0">
                <a:sym typeface="Wingdings" panose="05000000000000000000" pitchFamily="2" charset="2"/>
              </a:rPr>
              <a:t></a:t>
            </a:r>
            <a:endParaRPr lang="en-IN" dirty="0"/>
          </a:p>
        </p:txBody>
      </p:sp>
    </p:spTree>
    <p:extLst>
      <p:ext uri="{BB962C8B-B14F-4D97-AF65-F5344CB8AC3E}">
        <p14:creationId xmlns:p14="http://schemas.microsoft.com/office/powerpoint/2010/main" val="3337450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5BBCA-E32E-B8C7-68D8-212492F3F43D}"/>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AA5AF3AC-04A2-48BA-41A2-5D72F470CAF6}"/>
              </a:ext>
            </a:extLst>
          </p:cNvPr>
          <p:cNvSpPr/>
          <p:nvPr/>
        </p:nvSpPr>
        <p:spPr>
          <a:xfrm>
            <a:off x="3462729" y="6026047"/>
            <a:ext cx="3492708" cy="52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Scroll right ====</a:t>
            </a:r>
            <a:r>
              <a:rPr lang="en-IN" dirty="0">
                <a:sym typeface="Wingdings" panose="05000000000000000000" pitchFamily="2" charset="2"/>
              </a:rPr>
              <a:t></a:t>
            </a:r>
            <a:endParaRPr lang="en-IN" dirty="0"/>
          </a:p>
        </p:txBody>
      </p:sp>
      <p:sp>
        <p:nvSpPr>
          <p:cNvPr id="13" name="Subtitle 2">
            <a:extLst>
              <a:ext uri="{FF2B5EF4-FFF2-40B4-BE49-F238E27FC236}">
                <a16:creationId xmlns:a16="http://schemas.microsoft.com/office/drawing/2014/main" id="{B2763C68-7EE4-4653-2A87-74BC3F7DE130}"/>
              </a:ext>
            </a:extLst>
          </p:cNvPr>
          <p:cNvSpPr txBox="1">
            <a:spLocks/>
          </p:cNvSpPr>
          <p:nvPr/>
        </p:nvSpPr>
        <p:spPr>
          <a:xfrm>
            <a:off x="197370" y="1156740"/>
            <a:ext cx="11797259" cy="108072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algn="l"/>
            <a:r>
              <a:rPr lang="en-IN" sz="2200" b="1" dirty="0"/>
              <a:t>Stages:</a:t>
            </a:r>
            <a:r>
              <a:rPr lang="en-IN" sz="2200" dirty="0"/>
              <a:t> A stage in Spark represents a sequence of transformations that can be executed in a single pass, i.e., without any shuffling of data. When a job is divided, it is split into stages. Each stage comprises tasks, and all the tasks within a stage perform the same computation. </a:t>
            </a:r>
          </a:p>
          <a:p>
            <a:pPr lvl="0" algn="l"/>
            <a:endParaRPr lang="en-IN" sz="2200" dirty="0"/>
          </a:p>
          <a:p>
            <a:pPr algn="l"/>
            <a:r>
              <a:rPr lang="en-IN" sz="2200" b="1" dirty="0"/>
              <a:t>Task:</a:t>
            </a:r>
            <a:r>
              <a:rPr lang="en-IN" sz="2200" dirty="0"/>
              <a:t> Each partition or core is equivalent to number of task. Tasks are where narrow transformations occur (</a:t>
            </a:r>
            <a:r>
              <a:rPr lang="en-IN" sz="2200" dirty="0" err="1"/>
              <a:t>e.g.,union</a:t>
            </a:r>
            <a:r>
              <a:rPr lang="en-IN" sz="2200" dirty="0"/>
              <a:t>(), map(), filter())</a:t>
            </a:r>
          </a:p>
          <a:p>
            <a:pPr lvl="0" algn="l"/>
            <a:endParaRPr lang="en-IN" sz="2200" dirty="0"/>
          </a:p>
        </p:txBody>
      </p:sp>
    </p:spTree>
    <p:extLst>
      <p:ext uri="{BB962C8B-B14F-4D97-AF65-F5344CB8AC3E}">
        <p14:creationId xmlns:p14="http://schemas.microsoft.com/office/powerpoint/2010/main" val="177296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CD5961-8CAF-203E-628D-F949141DF69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E72471-06D7-A5BA-DEB6-B6360030B8CE}"/>
              </a:ext>
            </a:extLst>
          </p:cNvPr>
          <p:cNvSpPr>
            <a:spLocks noGrp="1"/>
          </p:cNvSpPr>
          <p:nvPr>
            <p:ph type="ctrTitle"/>
          </p:nvPr>
        </p:nvSpPr>
        <p:spPr>
          <a:xfrm>
            <a:off x="643468" y="643467"/>
            <a:ext cx="6087116" cy="4567137"/>
          </a:xfrm>
        </p:spPr>
        <p:txBody>
          <a:bodyPr>
            <a:normAutofit fontScale="90000"/>
          </a:bodyPr>
          <a:lstStyle/>
          <a:p>
            <a:pPr algn="l"/>
            <a:r>
              <a:rPr lang="en-IN" sz="4400" dirty="0"/>
              <a:t>Prepare yourself for average package of </a:t>
            </a:r>
            <a:r>
              <a:rPr lang="en-IN" sz="6100" b="1" dirty="0"/>
              <a:t>15 LPA </a:t>
            </a:r>
            <a:r>
              <a:rPr lang="en-IN" sz="4400" dirty="0"/>
              <a:t>in</a:t>
            </a:r>
            <a:br>
              <a:rPr lang="en-IN" sz="4400" dirty="0"/>
            </a:br>
            <a:r>
              <a:rPr lang="en-IN" sz="8800" b="1" dirty="0">
                <a:solidFill>
                  <a:srgbClr val="00B050"/>
                </a:solidFill>
              </a:rPr>
              <a:t>Data Engineering</a:t>
            </a:r>
            <a:br>
              <a:rPr lang="en-IN" sz="4400" dirty="0"/>
            </a:br>
            <a:endParaRPr lang="en-IN" sz="4400" dirty="0"/>
          </a:p>
        </p:txBody>
      </p:sp>
      <p:sp>
        <p:nvSpPr>
          <p:cNvPr id="3" name="Subtitle 2">
            <a:extLst>
              <a:ext uri="{FF2B5EF4-FFF2-40B4-BE49-F238E27FC236}">
                <a16:creationId xmlns:a16="http://schemas.microsoft.com/office/drawing/2014/main" id="{31FEAA38-033B-B212-7779-9B4F721D77D6}"/>
              </a:ext>
            </a:extLst>
          </p:cNvPr>
          <p:cNvSpPr>
            <a:spLocks noGrp="1"/>
          </p:cNvSpPr>
          <p:nvPr>
            <p:ph type="subTitle" idx="1"/>
          </p:nvPr>
        </p:nvSpPr>
        <p:spPr>
          <a:xfrm>
            <a:off x="643467" y="5277684"/>
            <a:ext cx="4620584" cy="775494"/>
          </a:xfrm>
        </p:spPr>
        <p:txBody>
          <a:bodyPr>
            <a:normAutofit/>
          </a:bodyPr>
          <a:lstStyle/>
          <a:p>
            <a:pPr algn="l"/>
            <a:r>
              <a:rPr lang="en-IN" sz="1700"/>
              <a:t>Save this. Share it. </a:t>
            </a:r>
          </a:p>
          <a:p>
            <a:pPr algn="l"/>
            <a:r>
              <a:rPr lang="en-IN" sz="1700" b="1"/>
              <a:t>Follow for Data Engineering Interview Tips</a:t>
            </a:r>
          </a:p>
          <a:p>
            <a:pPr algn="l"/>
            <a:endParaRPr lang="en-IN" sz="1700" b="1"/>
          </a:p>
        </p:txBody>
      </p:sp>
      <p:pic>
        <p:nvPicPr>
          <p:cNvPr id="7" name="Picture 6" descr="Man using tablet in a library">
            <a:extLst>
              <a:ext uri="{FF2B5EF4-FFF2-40B4-BE49-F238E27FC236}">
                <a16:creationId xmlns:a16="http://schemas.microsoft.com/office/drawing/2014/main" id="{F6E5944F-1D58-20CC-F288-B31151591813}"/>
              </a:ext>
            </a:extLst>
          </p:cNvPr>
          <p:cNvPicPr>
            <a:picLocks noChangeAspect="1"/>
          </p:cNvPicPr>
          <p:nvPr/>
        </p:nvPicPr>
        <p:blipFill>
          <a:blip r:embed="rId2">
            <a:extLst>
              <a:ext uri="{28A0092B-C50C-407E-A947-70E740481C1C}">
                <a14:useLocalDpi xmlns:a14="http://schemas.microsoft.com/office/drawing/2010/main" val="0"/>
              </a:ext>
            </a:extLst>
          </a:blip>
          <a:srcRect l="5232" r="36731"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066468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TotalTime>
  <Words>304</Words>
  <Application>Microsoft Office PowerPoint</Application>
  <PresentationFormat>Widescreen</PresentationFormat>
  <Paragraphs>17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Wingdings</vt:lpstr>
      <vt:lpstr>Office Theme</vt:lpstr>
      <vt:lpstr>Sample Design:  No Company Logo, No Mentor’s Name</vt:lpstr>
      <vt:lpstr>Sample Design:  No Company Logo, No Mentor’s Name</vt:lpstr>
      <vt:lpstr>Sample Design:  No Company Logo, No Mentor’s Name</vt:lpstr>
      <vt:lpstr>Sample Design:  No Company Logo, No Mentor’s Name</vt:lpstr>
      <vt:lpstr>What are DAG, Jobs, Stages and Task in Spark Databricks?</vt:lpstr>
      <vt:lpstr>DAG: Spark uses a DAG (Directed Acyclic Graph) scheduler, which schedules stages of tasks. Represents the logical execution plan, showing task dependencies. The DAG scheduler optimizes execution by breaking operations into stages and minimizing data shuffling.  </vt:lpstr>
      <vt:lpstr>PowerPoint Presentation</vt:lpstr>
      <vt:lpstr>Prepare yourself for average package of 15 LPA in Data Engineering </vt:lpstr>
    </vt:vector>
  </TitlesOfParts>
  <Company>Teleperformance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Sachin Saxena</dc:creator>
  <cp:lastModifiedBy>Sachin Saxena</cp:lastModifiedBy>
  <cp:revision>22</cp:revision>
  <dcterms:created xsi:type="dcterms:W3CDTF">2026-09-24T13:12:32Z</dcterms:created>
  <dcterms:modified xsi:type="dcterms:W3CDTF">2026-09-24T16:32:04Z</dcterms:modified>
</cp:coreProperties>
</file>