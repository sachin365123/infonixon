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56" r:id="rId6"/>
    <p:sldId id="257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1C0D-81D0-F4B4-C627-664A78FD2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E9E08-907E-2F6A-E239-24C4A5D6E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F1FB-44FF-A1A1-1B01-8AB39327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47D96-B6A3-6326-6246-62B1E57B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69CB0-3423-6DE2-5147-B2E8D18C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13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AD6C-4399-CF51-D1F3-9D0FA03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8A57D-7193-C4AF-F936-5FD607C7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56AA7-C9AB-5A75-31EB-B01F0D4B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7077A-CFD9-CCE3-95FD-B4E5B34A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3543D-EDEB-C91A-78E8-5B6D8948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86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2610-06CF-F629-7A32-F13F58DE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7F27-780F-08BD-A296-5B0A98CA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E2602-E672-3E92-F7F6-42565AF4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46CE-FF0A-8F0E-55C9-4E790619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E147-039A-A81F-B7C4-F5019BA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58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AA22-9167-1AD4-9E17-2F096933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7572-E89E-D1C5-CF67-DB197B1E1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895CC-1B16-D338-8E50-D62B23FBA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483A3-529A-3DAE-C884-B8AA22B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4F790-43A4-D001-29C5-170A9C5F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3926A-7457-40BF-5F9E-00A05463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24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7C2E-C242-0E59-D32E-77E51457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BCABA-D738-627D-698A-5E48C9634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3252-0A40-D24F-353C-DFE7937FF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D48C9-CE00-3AD4-4A21-A372FEFCB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1459B-01A6-E824-2EF7-D9E573B68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EA0F5-0508-DB40-D9FD-DDFCCEF8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ADB99-CA7B-7011-4523-694CBB93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EABB8-3645-B630-DA9C-C8613AC4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9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DBAE-C987-3869-DD05-6F65D526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97B3A-A0CD-2384-E486-D484C4E3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0CADB-3659-AC38-B4A5-6CDCA0F2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94DFD-9842-BDA0-E2BD-E083E239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18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A7751-42A2-574B-3917-50B889D0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280F4-5DBD-0B10-3878-EE024ADB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DC7A-9897-C88F-D61A-A476C762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5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4025-67FD-DE1E-D0E7-E96D3650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2DB7-1D46-CBBD-CECE-916192F8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C1B75-1E9B-249D-CBDA-549100B5D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F9886-6FC6-4434-040A-C27CC5E2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4577-3B03-FF04-316F-94536BAC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56EE0-E0B6-17EB-9C9E-2BE585A7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45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B7EE-4776-964B-2E23-30C93242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CDF87-0594-5157-E10D-33774EA2A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B5B4-A97F-E491-A89E-1C0CE235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79040-1054-C60F-EA9F-7D8A8B85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A105-5E88-6DE8-40C7-50F44557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30819-5C2F-7AF5-6299-6FFA9221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0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D644-E01E-0E37-2E09-30CBFD0C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3073F-69AE-D75F-CE50-C02BC133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8AA1-C722-AA4B-60BF-1CEBA9E5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D6E9F-0639-BC04-3ECD-07429ECF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247EB-1A3B-32AC-9A40-5B2E1F34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3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4DF77-F127-415C-BEA9-8F9F02B74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201DD-73AB-BF69-8F5A-9463EFB52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4E33-BFF4-723D-859D-9FF0AC7B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610D-7F2F-F49E-EF22-9B413F5B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F79CF-0148-1F5A-8315-81413A99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6EAE1-ADEC-B886-E618-34B28A5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98949-CB68-929D-772B-7A8156745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EAF5-2E80-B3FC-7413-D77DBF58E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2DC32-D156-5B3E-4687-A96A9B5A4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D79A4-D193-6E8E-A8AA-A7911A1C0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1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50C8-C55F-751B-F9E1-EB84414D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83BA8-A8EF-C412-D92F-8AA286700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918633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0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E38F-519E-0E8D-ED5E-C027C32F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32E8-890E-7478-7E00-D0D88F51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DAB73-7764-6B1F-B299-26C00A59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How to Create a LinkedIn Carousel in PowerPoint">
            <a:extLst>
              <a:ext uri="{FF2B5EF4-FFF2-40B4-BE49-F238E27FC236}">
                <a16:creationId xmlns:a16="http://schemas.microsoft.com/office/drawing/2014/main" id="{37C5491F-7EE5-E195-E870-18AD3731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12" y="2270658"/>
            <a:ext cx="7036009" cy="39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1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FCD7-95E7-10EF-7F3C-9182E238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8B793-A624-3582-0108-161F0709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E15A-723A-D6F2-B774-C69BB311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Linkedin Carousel designs, themes, templates and downloadable graphic  elements on Dribbble">
            <a:extLst>
              <a:ext uri="{FF2B5EF4-FFF2-40B4-BE49-F238E27FC236}">
                <a16:creationId xmlns:a16="http://schemas.microsoft.com/office/drawing/2014/main" id="{FC86563A-C979-134F-FC34-D1FB1F7D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80" b="25079"/>
          <a:stretch>
            <a:fillRect/>
          </a:stretch>
        </p:blipFill>
        <p:spPr>
          <a:xfrm>
            <a:off x="533732" y="1947641"/>
            <a:ext cx="10708397" cy="412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0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6E23-9338-9186-5475-2D93B602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F5F6-55CB-B24F-3015-4DFA032A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1AC54-F34B-7DEF-C921-3F2D833B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Linkedin Carousel Images – Browse 1,156 Stock Photos, Vectors, and Video |  Adobe Stock">
            <a:extLst>
              <a:ext uri="{FF2B5EF4-FFF2-40B4-BE49-F238E27FC236}">
                <a16:creationId xmlns:a16="http://schemas.microsoft.com/office/drawing/2014/main" id="{762DFF07-B1B1-E351-13D3-D9CF58EF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4" y="2361700"/>
            <a:ext cx="11048229" cy="367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2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0514-A18F-260B-A23D-2FD524D3B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97" y="1041400"/>
            <a:ext cx="9144000" cy="2387600"/>
          </a:xfrm>
        </p:spPr>
        <p:txBody>
          <a:bodyPr>
            <a:noAutofit/>
          </a:bodyPr>
          <a:lstStyle/>
          <a:p>
            <a:r>
              <a:rPr lang="en-IN" sz="8800" dirty="0"/>
              <a:t>Databricks Interview Question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74FEB-E3D6-A75F-B354-1E90D6DCB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636" y="3691979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US" sz="3300" b="1" dirty="0">
                <a:solidFill>
                  <a:srgbClr val="FF0000"/>
                </a:solidFill>
              </a:rPr>
              <a:t>Question: </a:t>
            </a:r>
          </a:p>
          <a:p>
            <a:r>
              <a:rPr lang="en-US" sz="5500" b="1" dirty="0">
                <a:solidFill>
                  <a:srgbClr val="FF0000"/>
                </a:solidFill>
              </a:rPr>
              <a:t>How do you optimize a </a:t>
            </a:r>
            <a:r>
              <a:rPr lang="en-US" sz="5500" b="1" dirty="0" err="1">
                <a:solidFill>
                  <a:srgbClr val="FF0000"/>
                </a:solidFill>
              </a:rPr>
              <a:t>PySpark</a:t>
            </a:r>
            <a:r>
              <a:rPr lang="en-US" sz="5500" b="1" dirty="0">
                <a:solidFill>
                  <a:srgbClr val="FF0000"/>
                </a:solidFill>
              </a:rPr>
              <a:t> job in </a:t>
            </a:r>
            <a:r>
              <a:rPr lang="en-IN" sz="6000" dirty="0"/>
              <a:t>Databricks</a:t>
            </a:r>
            <a:r>
              <a:rPr lang="en-US" sz="5500" b="1" dirty="0">
                <a:solidFill>
                  <a:srgbClr val="FF0000"/>
                </a:solidFill>
              </a:rPr>
              <a:t>?</a:t>
            </a:r>
            <a:endParaRPr lang="en-IN" sz="55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Man using tablet in a library">
            <a:extLst>
              <a:ext uri="{FF2B5EF4-FFF2-40B4-BE49-F238E27FC236}">
                <a16:creationId xmlns:a16="http://schemas.microsoft.com/office/drawing/2014/main" id="{8668FB1B-3991-D4AA-5153-889CC0AF6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9" r="63802"/>
          <a:stretch>
            <a:fillRect/>
          </a:stretch>
        </p:blipFill>
        <p:spPr>
          <a:xfrm>
            <a:off x="9943475" y="0"/>
            <a:ext cx="2248525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E51F18-AA9D-E3AE-D85A-1C8AB243B0AF}"/>
              </a:ext>
            </a:extLst>
          </p:cNvPr>
          <p:cNvSpPr/>
          <p:nvPr/>
        </p:nvSpPr>
        <p:spPr>
          <a:xfrm>
            <a:off x="1394085" y="5501390"/>
            <a:ext cx="5096656" cy="7195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Get started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19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2EC15-C793-90E6-F5C5-FE3ECFC6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BCA7-A01A-6B20-B9D4-0523E4C21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478" y="1105526"/>
            <a:ext cx="9144000" cy="2387600"/>
          </a:xfrm>
        </p:spPr>
        <p:txBody>
          <a:bodyPr>
            <a:normAutofit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3300" dirty="0"/>
              <a:t>Using broadcast joins for small datasets:</a:t>
            </a:r>
            <a:br>
              <a:rPr lang="en-US" sz="3300" dirty="0"/>
            </a:br>
            <a:r>
              <a:rPr lang="en-US" sz="2400" dirty="0"/>
              <a:t>A broadcast join optimizes join operations by broadcasting a small dataset to all executor nodes. This allows each node to perform the join locally, reducing the need for shuffling large datasets across the network.</a:t>
            </a:r>
            <a:br>
              <a:rPr lang="en-US" sz="3300" dirty="0"/>
            </a:br>
            <a:endParaRPr lang="en-IN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798F-BEA0-1D60-6021-CD83019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6019" y="3906838"/>
            <a:ext cx="10448144" cy="279876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700" dirty="0"/>
              <a:t>Repartitioning data effectively to avoid data skew:</a:t>
            </a:r>
          </a:p>
          <a:p>
            <a:pPr algn="l"/>
            <a:r>
              <a:rPr lang="en-US" sz="2800" b="1" dirty="0"/>
              <a:t>Data skew</a:t>
            </a:r>
            <a:r>
              <a:rPr lang="en-US" sz="2800" dirty="0"/>
              <a:t> happens when some join keys appear far more frequently than others.</a:t>
            </a:r>
            <a:endParaRPr lang="en-IN" sz="2800" dirty="0"/>
          </a:p>
          <a:p>
            <a:pPr algn="l"/>
            <a:r>
              <a:rPr lang="en-US" sz="2800" dirty="0"/>
              <a:t>Example: 50% of rows have key = "US"</a:t>
            </a:r>
            <a:endParaRPr lang="en-IN" sz="2800" dirty="0"/>
          </a:p>
          <a:p>
            <a:pPr lvl="0" algn="l"/>
            <a:r>
              <a:rPr lang="en-US" sz="2800" dirty="0"/>
              <a:t>remaining data is evenly distributed</a:t>
            </a: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300" dirty="0"/>
          </a:p>
        </p:txBody>
      </p:sp>
      <p:pic>
        <p:nvPicPr>
          <p:cNvPr id="5" name="Graphic 4" descr="Badge 1 outline">
            <a:extLst>
              <a:ext uri="{FF2B5EF4-FFF2-40B4-BE49-F238E27FC236}">
                <a16:creationId xmlns:a16="http://schemas.microsoft.com/office/drawing/2014/main" id="{967D4035-D9D4-9049-D6F5-121BBAF2A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2573" y="1558562"/>
            <a:ext cx="1481528" cy="1481528"/>
          </a:xfrm>
          <a:prstGeom prst="rect">
            <a:avLst/>
          </a:prstGeom>
        </p:spPr>
      </p:pic>
      <p:pic>
        <p:nvPicPr>
          <p:cNvPr id="7" name="Graphic 6" descr="Badge outline">
            <a:extLst>
              <a:ext uri="{FF2B5EF4-FFF2-40B4-BE49-F238E27FC236}">
                <a16:creationId xmlns:a16="http://schemas.microsoft.com/office/drawing/2014/main" id="{E77C524B-4F71-305B-ED72-0EF8BAAE3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7603" y="3779721"/>
            <a:ext cx="1526498" cy="1526498"/>
          </a:xfrm>
          <a:prstGeom prst="rect">
            <a:avLst/>
          </a:prstGeom>
        </p:spPr>
      </p:pic>
      <p:pic>
        <p:nvPicPr>
          <p:cNvPr id="9" name="Picture 8" descr="Man using tablet in a library">
            <a:extLst>
              <a:ext uri="{FF2B5EF4-FFF2-40B4-BE49-F238E27FC236}">
                <a16:creationId xmlns:a16="http://schemas.microsoft.com/office/drawing/2014/main" id="{E5C3293F-C1AB-2B54-70BF-08146EF0C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3" r="46039"/>
          <a:stretch>
            <a:fillRect/>
          </a:stretch>
        </p:blipFill>
        <p:spPr>
          <a:xfrm>
            <a:off x="0" y="64126"/>
            <a:ext cx="1858780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FA538E-A3EE-1D9F-FB15-EE9AA69DED45}"/>
              </a:ext>
            </a:extLst>
          </p:cNvPr>
          <p:cNvSpPr/>
          <p:nvPr/>
        </p:nvSpPr>
        <p:spPr>
          <a:xfrm>
            <a:off x="8469443" y="6175948"/>
            <a:ext cx="3492708" cy="5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Get started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45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BBCA-E32E-B8C7-68D8-212492F3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3EC9-41B5-58FE-D8E9-D5F1E2962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23804"/>
            <a:ext cx="9943475" cy="2387600"/>
          </a:xfrm>
        </p:spPr>
        <p:txBody>
          <a:bodyPr>
            <a:normAutofit fontScale="90000"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700" dirty="0"/>
              <a:t>Caching frequently used </a:t>
            </a:r>
            <a:r>
              <a:rPr lang="en-US" sz="3700" dirty="0" err="1"/>
              <a:t>DataFrames</a:t>
            </a:r>
            <a:r>
              <a:rPr lang="en-US" sz="3700" dirty="0"/>
              <a:t> using .cache() or .persist():</a:t>
            </a:r>
            <a:br>
              <a:rPr lang="en-US" sz="3300" dirty="0"/>
            </a:br>
            <a:r>
              <a:rPr lang="en-US" sz="2700" dirty="0"/>
              <a:t>In Spark, caching is a mechanism for storing data in memory to speed up access to that data. When you cache a dataset, Spark keeps the data in memory so that it can be quickly retrieved the next time it is needed. </a:t>
            </a:r>
            <a:br>
              <a:rPr lang="en-US" sz="3300" dirty="0"/>
            </a:br>
            <a:endParaRPr lang="en-IN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B63BE-83A8-CAF2-7ECF-D13C196B9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99473"/>
            <a:ext cx="9943475" cy="315852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300" dirty="0"/>
              <a:t>Avoiding shuffling by using coalesce() where needed:</a:t>
            </a:r>
          </a:p>
          <a:p>
            <a:pPr lvl="0"/>
            <a:r>
              <a:rPr lang="en-US" dirty="0"/>
              <a:t>When you use </a:t>
            </a:r>
            <a:r>
              <a:rPr lang="en-US" dirty="0">
                <a:solidFill>
                  <a:srgbClr val="FF0000"/>
                </a:solidFill>
              </a:rPr>
              <a:t>repartition() </a:t>
            </a:r>
            <a:r>
              <a:rPr lang="en-US" dirty="0"/>
              <a:t>increases or decreases partitions by shuffling the data. Where as </a:t>
            </a:r>
            <a:r>
              <a:rPr lang="en-US" dirty="0">
                <a:solidFill>
                  <a:srgbClr val="FF0000"/>
                </a:solidFill>
              </a:rPr>
              <a:t>coalesce() </a:t>
            </a:r>
            <a:r>
              <a:rPr lang="en-US" dirty="0"/>
              <a:t>decreases the number of partitions without a full shuffle, making it more efficient for reducing partitions.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300" dirty="0"/>
          </a:p>
        </p:txBody>
      </p:sp>
      <p:pic>
        <p:nvPicPr>
          <p:cNvPr id="5" name="Graphic 4" descr="Badge 3 outline">
            <a:extLst>
              <a:ext uri="{FF2B5EF4-FFF2-40B4-BE49-F238E27FC236}">
                <a16:creationId xmlns:a16="http://schemas.microsoft.com/office/drawing/2014/main" id="{2E5BF95D-460E-AB77-1F39-21E0AED51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3988" y="-197604"/>
            <a:ext cx="1379349" cy="1379349"/>
          </a:xfrm>
          <a:prstGeom prst="rect">
            <a:avLst/>
          </a:prstGeom>
        </p:spPr>
      </p:pic>
      <p:pic>
        <p:nvPicPr>
          <p:cNvPr id="7" name="Graphic 6" descr="Badge 4 outline">
            <a:extLst>
              <a:ext uri="{FF2B5EF4-FFF2-40B4-BE49-F238E27FC236}">
                <a16:creationId xmlns:a16="http://schemas.microsoft.com/office/drawing/2014/main" id="{8ED9F2F6-5BBC-A277-4E63-0772E67B6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3988" y="3111395"/>
            <a:ext cx="1521417" cy="1521417"/>
          </a:xfrm>
          <a:prstGeom prst="rect">
            <a:avLst/>
          </a:prstGeom>
        </p:spPr>
      </p:pic>
      <p:pic>
        <p:nvPicPr>
          <p:cNvPr id="9" name="Picture 8" descr="Man using tablet in a library">
            <a:extLst>
              <a:ext uri="{FF2B5EF4-FFF2-40B4-BE49-F238E27FC236}">
                <a16:creationId xmlns:a16="http://schemas.microsoft.com/office/drawing/2014/main" id="{D2006A62-2FC9-4127-C7C4-7361B6B81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9" r="63802"/>
          <a:stretch>
            <a:fillRect/>
          </a:stretch>
        </p:blipFill>
        <p:spPr>
          <a:xfrm>
            <a:off x="9943475" y="0"/>
            <a:ext cx="2248525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5AF3AC-04A2-48BA-41A2-5D72F470CAF6}"/>
              </a:ext>
            </a:extLst>
          </p:cNvPr>
          <p:cNvSpPr/>
          <p:nvPr/>
        </p:nvSpPr>
        <p:spPr>
          <a:xfrm>
            <a:off x="3462729" y="6026047"/>
            <a:ext cx="3492708" cy="5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Get started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96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D5961-8CAF-203E-628D-F949141D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72471-06D7-A5BA-DEB6-B6360030B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IN" sz="4400" dirty="0"/>
              <a:t>Your Journey to Becoming a </a:t>
            </a:r>
            <a:br>
              <a:rPr lang="en-IN" sz="4400" dirty="0"/>
            </a:br>
            <a:r>
              <a:rPr lang="en-IN" sz="5500" b="1" dirty="0">
                <a:solidFill>
                  <a:srgbClr val="00B050"/>
                </a:solidFill>
              </a:rPr>
              <a:t>Data Engineer </a:t>
            </a:r>
            <a:br>
              <a:rPr lang="en-IN" sz="4400" dirty="0"/>
            </a:br>
            <a:r>
              <a:rPr lang="en-IN" sz="4400" dirty="0"/>
              <a:t>Starts Now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EAA38-033B-B212-7779-9B4F721D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IN" sz="1700"/>
              <a:t>Save this. Share it. </a:t>
            </a:r>
          </a:p>
          <a:p>
            <a:pPr algn="l"/>
            <a:r>
              <a:rPr lang="en-IN" sz="1700" b="1"/>
              <a:t>Follow for Data Engineering Interview Tips</a:t>
            </a:r>
          </a:p>
          <a:p>
            <a:pPr algn="l"/>
            <a:endParaRPr lang="en-IN" sz="1700" b="1"/>
          </a:p>
        </p:txBody>
      </p:sp>
      <p:pic>
        <p:nvPicPr>
          <p:cNvPr id="7" name="Picture 6" descr="Man using tablet in a library">
            <a:extLst>
              <a:ext uri="{FF2B5EF4-FFF2-40B4-BE49-F238E27FC236}">
                <a16:creationId xmlns:a16="http://schemas.microsoft.com/office/drawing/2014/main" id="{F6E5944F-1D58-20CC-F288-B3115159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2" r="3673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664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289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Sample Design:  No Company Logo, No Mentor’s Name</vt:lpstr>
      <vt:lpstr>Sample Design:  No Company Logo, No Mentor’s Name</vt:lpstr>
      <vt:lpstr>Sample Design:  No Company Logo, No Mentor’s Name</vt:lpstr>
      <vt:lpstr>Sample Design:  No Company Logo, No Mentor’s Name</vt:lpstr>
      <vt:lpstr>Databricks Interview Question</vt:lpstr>
      <vt:lpstr>Using broadcast joins for small datasets: A broadcast join optimizes join operations by broadcasting a small dataset to all executor nodes. This allows each node to perform the join locally, reducing the need for shuffling large datasets across the network. </vt:lpstr>
      <vt:lpstr>Caching frequently used DataFrames using .cache() or .persist(): In Spark, caching is a mechanism for storing data in memory to speed up access to that data. When you cache a dataset, Spark keeps the data in memory so that it can be quickly retrieved the next time it is needed.  </vt:lpstr>
      <vt:lpstr>Your Journey to Becoming a  Data Engineer  Starts Now </vt:lpstr>
    </vt:vector>
  </TitlesOfParts>
  <Company>Teleperformance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Saxena</dc:creator>
  <cp:lastModifiedBy>Sachin Saxena</cp:lastModifiedBy>
  <cp:revision>12</cp:revision>
  <dcterms:created xsi:type="dcterms:W3CDTF">2026-09-24T13:12:32Z</dcterms:created>
  <dcterms:modified xsi:type="dcterms:W3CDTF">2026-09-24T14:15:48Z</dcterms:modified>
</cp:coreProperties>
</file>